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438403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78385" y="987552"/>
            <a:ext cx="16157265" cy="11772717"/>
          </a:xfrm>
          <a:prstGeom prst="roundRect">
            <a:avLst/>
          </a:prstGeom>
          <a:solidFill>
            <a:srgbClr val="212121">
              <a:alpha val="5000"/>
            </a:srgbClr>
          </a:solidFill>
          <a:ln w="50800">
            <a:solidFill>
              <a:srgbClr val="D6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66040" y="962131"/>
            <a:ext cx="16157265" cy="11772717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0_e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93349" y="8228045"/>
            <a:ext cx="9396831" cy="3501603"/>
          </a:xfrm>
          <a:prstGeom prst="rect">
            <a:avLst/>
          </a:prstGeom>
        </p:spPr>
      </p:pic>
      <p:pic>
        <p:nvPicPr>
          <p:cNvPr id="5" name="Picture 4" descr="s10_e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72678" y="9481139"/>
            <a:ext cx="7561356" cy="1680484"/>
          </a:xfrm>
          <a:prstGeom prst="rect">
            <a:avLst/>
          </a:prstGeom>
        </p:spPr>
      </p:pic>
      <p:pic>
        <p:nvPicPr>
          <p:cNvPr id="6" name="Picture 5" descr="s10_e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67736" y="9481139"/>
            <a:ext cx="5766389" cy="1680484"/>
          </a:xfrm>
          <a:prstGeom prst="rect">
            <a:avLst/>
          </a:prstGeom>
        </p:spPr>
      </p:pic>
      <p:pic>
        <p:nvPicPr>
          <p:cNvPr id="7" name="Picture 6" descr="s10_e1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151742" y="10703052"/>
            <a:ext cx="1882292" cy="45857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9610313" y="10770443"/>
            <a:ext cx="1423720" cy="242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10" b="0" i="0">
                <a:solidFill>
                  <a:srgbClr val="000000"/>
                </a:solidFill>
                <a:latin typeface="Quicksand (TT)"/>
              </a:rPr>
              <a:t>treasuries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151742" y="10703052"/>
            <a:ext cx="296722" cy="458571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9016868" y="10563331"/>
            <a:ext cx="755385" cy="647395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9054632" y="10671870"/>
            <a:ext cx="528706" cy="56583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10_e1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039021" y="10703052"/>
            <a:ext cx="1441368" cy="45857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7497592" y="10770443"/>
            <a:ext cx="982797" cy="242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10" b="0" i="0">
                <a:solidFill>
                  <a:srgbClr val="000000"/>
                </a:solidFill>
                <a:latin typeface="Quicksand (TT)"/>
              </a:rPr>
              <a:t>inverse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039021" y="10703052"/>
            <a:ext cx="296722" cy="458571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6904147" y="10563331"/>
            <a:ext cx="755385" cy="647395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941911" y="10671870"/>
            <a:ext cx="528706" cy="56583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10_e1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267736" y="10703052"/>
            <a:ext cx="1085758" cy="45857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5726308" y="10770443"/>
            <a:ext cx="627095" cy="242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10" b="0" i="0">
                <a:solidFill>
                  <a:srgbClr val="000000"/>
                </a:solidFill>
                <a:latin typeface="Quicksand (TT)"/>
              </a:rPr>
              <a:t>cash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267736" y="10703052"/>
            <a:ext cx="296722" cy="458571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5132771" y="10563331"/>
            <a:ext cx="755385" cy="647395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5170536" y="10671870"/>
            <a:ext cx="528706" cy="56583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10_e1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267736" y="9481139"/>
            <a:ext cx="4882164" cy="45857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5726308" y="9548622"/>
            <a:ext cx="4423592" cy="2697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10" b="0" i="0">
                <a:solidFill>
                  <a:srgbClr val="000000"/>
                </a:solidFill>
                <a:latin typeface="Quicksand (TT)"/>
              </a:rPr>
              <a:t>leveraged index exposure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267736" y="9481139"/>
            <a:ext cx="296722" cy="458571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5267736" y="9480224"/>
            <a:ext cx="296722" cy="567476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5213695" y="9480224"/>
            <a:ext cx="539496" cy="567476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s10_e15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472678" y="9532985"/>
            <a:ext cx="1185793" cy="1522933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3472678" y="10754807"/>
            <a:ext cx="1185793" cy="301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000000"/>
                </a:solidFill>
                <a:latin typeface="Rajdhani SemiBold"/>
              </a:rPr>
              <a:t>risk-oFF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472678" y="9532985"/>
            <a:ext cx="1080546" cy="301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000000"/>
                </a:solidFill>
                <a:latin typeface="Rajdhani SemiBold"/>
              </a:rPr>
              <a:t>risk-on</a:t>
            </a:r>
          </a:p>
        </p:txBody>
      </p:sp>
      <p:pic>
        <p:nvPicPr>
          <p:cNvPr id="30" name="Picture 29" descr="s10_e1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993349" y="8557138"/>
            <a:ext cx="9396831" cy="317241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5699973" y="8228045"/>
            <a:ext cx="4019519" cy="7122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20" b="0" i="0">
                <a:solidFill>
                  <a:srgbClr val="000000"/>
                </a:solidFill>
                <a:latin typeface="Lexend Deca"/>
              </a:rPr>
              <a:t>Alternate between </a:t>
            </a:r>
          </a:p>
          <a:p>
            <a:pPr algn="ctr"/>
            <a:r>
              <a:rPr sz="2120" b="0" i="0">
                <a:solidFill>
                  <a:srgbClr val="000000"/>
                </a:solidFill>
                <a:latin typeface="Lexend Deca"/>
              </a:rPr>
              <a:t>Risk-On and Risk-Off</a:t>
            </a:r>
          </a:p>
        </p:txBody>
      </p:sp>
      <p:pic>
        <p:nvPicPr>
          <p:cNvPr id="32" name="Picture 31" descr="s10_e17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181576" y="1901860"/>
            <a:ext cx="5208605" cy="5116616"/>
          </a:xfrm>
          <a:prstGeom prst="rect">
            <a:avLst/>
          </a:prstGeom>
        </p:spPr>
      </p:pic>
      <p:pic>
        <p:nvPicPr>
          <p:cNvPr id="33" name="Picture 32" descr="s10_e18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181576" y="4655301"/>
            <a:ext cx="1909267" cy="2363083"/>
          </a:xfrm>
          <a:prstGeom prst="rect">
            <a:avLst/>
          </a:prstGeom>
        </p:spPr>
      </p:pic>
      <p:pic>
        <p:nvPicPr>
          <p:cNvPr id="34" name="Picture 33" descr="s10_e19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181576" y="4655301"/>
            <a:ext cx="1909267" cy="1909267"/>
          </a:xfrm>
          <a:prstGeom prst="rect">
            <a:avLst/>
          </a:prstGeom>
        </p:spPr>
      </p:pic>
      <p:pic>
        <p:nvPicPr>
          <p:cNvPr id="35" name="Picture 34" descr="s10_e20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7181576" y="4655301"/>
            <a:ext cx="1909267" cy="1909267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17181576" y="4655301"/>
            <a:ext cx="1909267" cy="1909267"/>
          </a:xfrm>
          <a:prstGeom prst="roundRect">
            <a:avLst/>
          </a:prstGeom>
          <a:solidFill>
            <a:srgbClr val="E5E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7181576" y="4655301"/>
            <a:ext cx="1909175" cy="1909267"/>
          </a:xfrm>
          <a:prstGeom prst="round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573122" y="5389747"/>
            <a:ext cx="1125992" cy="44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729" b="0" i="0">
                <a:solidFill>
                  <a:srgbClr val="212121"/>
                </a:solidFill>
                <a:latin typeface="Rajdhani SemiBold"/>
              </a:rPr>
              <a:t>6.67%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778222" y="6754215"/>
            <a:ext cx="715975" cy="264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40" b="0" i="0">
                <a:solidFill>
                  <a:srgbClr val="212121"/>
                </a:solidFill>
                <a:latin typeface="Rajdhani"/>
              </a:rPr>
              <a:t>CRTBX</a:t>
            </a:r>
          </a:p>
        </p:txBody>
      </p:sp>
      <p:pic>
        <p:nvPicPr>
          <p:cNvPr id="40" name="Picture 39" descr="s10_e21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0480914" y="1901860"/>
            <a:ext cx="1909267" cy="2360157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0980176" y="3997756"/>
            <a:ext cx="910742" cy="264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40" b="0" i="0">
                <a:solidFill>
                  <a:srgbClr val="212121"/>
                </a:solidFill>
                <a:latin typeface="Rajdhani"/>
              </a:rPr>
              <a:t>CRMVX</a:t>
            </a:r>
          </a:p>
        </p:txBody>
      </p:sp>
      <p:pic>
        <p:nvPicPr>
          <p:cNvPr id="42" name="Picture 41" descr="s10_e22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0480914" y="1901860"/>
            <a:ext cx="1909267" cy="190926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20850240" y="2636306"/>
            <a:ext cx="1170523" cy="44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729" b="0" i="0">
                <a:solidFill>
                  <a:srgbClr val="212121"/>
                </a:solidFill>
                <a:latin typeface="Rajdhani SemiBold"/>
              </a:rPr>
              <a:t>6.66%</a:t>
            </a:r>
          </a:p>
        </p:txBody>
      </p:sp>
      <p:pic>
        <p:nvPicPr>
          <p:cNvPr id="44" name="Picture 43" descr="s10_e23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0480914" y="1901860"/>
            <a:ext cx="1909267" cy="1909267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20480914" y="1901860"/>
            <a:ext cx="1909267" cy="1909267"/>
          </a:xfrm>
          <a:prstGeom prst="roundRect">
            <a:avLst/>
          </a:prstGeom>
          <a:solidFill>
            <a:srgbClr val="E5E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20480914" y="1901860"/>
            <a:ext cx="1909175" cy="1909267"/>
          </a:xfrm>
          <a:prstGeom prst="round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s10_e24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0480914" y="4648626"/>
            <a:ext cx="1909267" cy="2369759"/>
          </a:xfrm>
          <a:prstGeom prst="rect">
            <a:avLst/>
          </a:prstGeom>
        </p:spPr>
      </p:pic>
      <p:pic>
        <p:nvPicPr>
          <p:cNvPr id="48" name="Picture 47" descr="s10_e25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0480914" y="4648626"/>
            <a:ext cx="1909267" cy="1909267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20885078" y="5383072"/>
            <a:ext cx="1100937" cy="44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729" b="0" i="0">
                <a:solidFill>
                  <a:srgbClr val="212121"/>
                </a:solidFill>
                <a:latin typeface="Rajdhani SemiBold"/>
              </a:rPr>
              <a:t>6.67%</a:t>
            </a:r>
          </a:p>
        </p:txBody>
      </p:sp>
      <p:pic>
        <p:nvPicPr>
          <p:cNvPr id="50" name="Picture 49" descr="s10_e26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0480914" y="4648626"/>
            <a:ext cx="1909267" cy="1909267"/>
          </a:xfrm>
          <a:prstGeom prst="rect">
            <a:avLst/>
          </a:prstGeom>
        </p:spPr>
      </p:pic>
      <p:sp>
        <p:nvSpPr>
          <p:cNvPr id="51" name="Rounded Rectangle 50"/>
          <p:cNvSpPr/>
          <p:nvPr/>
        </p:nvSpPr>
        <p:spPr>
          <a:xfrm>
            <a:off x="20480914" y="4648626"/>
            <a:ext cx="1909267" cy="1909267"/>
          </a:xfrm>
          <a:prstGeom prst="roundRect">
            <a:avLst/>
          </a:prstGeom>
          <a:solidFill>
            <a:srgbClr val="E5E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20480914" y="4648626"/>
            <a:ext cx="1909175" cy="1909267"/>
          </a:xfrm>
          <a:prstGeom prst="round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1077011" y="6754215"/>
            <a:ext cx="717072" cy="264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40" b="0" i="0">
                <a:solidFill>
                  <a:srgbClr val="212121"/>
                </a:solidFill>
                <a:latin typeface="Rajdhani"/>
              </a:rPr>
              <a:t>CRTOX</a:t>
            </a:r>
          </a:p>
        </p:txBody>
      </p:sp>
      <p:pic>
        <p:nvPicPr>
          <p:cNvPr id="54" name="Picture 53" descr="s10_e27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7181576" y="1901860"/>
            <a:ext cx="1909175" cy="2360157"/>
          </a:xfrm>
          <a:prstGeom prst="rect">
            <a:avLst/>
          </a:prstGeom>
        </p:spPr>
      </p:pic>
      <p:pic>
        <p:nvPicPr>
          <p:cNvPr id="55" name="Picture 54" descr="s10_e28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7181576" y="1901860"/>
            <a:ext cx="1909175" cy="1909267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7711196" y="2636306"/>
            <a:ext cx="849934" cy="44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29" b="0" i="0">
                <a:solidFill>
                  <a:srgbClr val="212121"/>
                </a:solidFill>
                <a:latin typeface="Rajdhani SemiBold"/>
              </a:rPr>
              <a:t>80%</a:t>
            </a:r>
          </a:p>
        </p:txBody>
      </p:sp>
      <p:pic>
        <p:nvPicPr>
          <p:cNvPr id="57" name="Picture 56" descr="s10_e29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7181576" y="1901860"/>
            <a:ext cx="1909175" cy="1909267"/>
          </a:xfrm>
          <a:prstGeom prst="rect">
            <a:avLst/>
          </a:prstGeom>
        </p:spPr>
      </p:pic>
      <p:sp>
        <p:nvSpPr>
          <p:cNvPr id="58" name="Rounded Rectangle 57"/>
          <p:cNvSpPr/>
          <p:nvPr/>
        </p:nvSpPr>
        <p:spPr>
          <a:xfrm>
            <a:off x="17181576" y="1901860"/>
            <a:ext cx="1909175" cy="1909267"/>
          </a:xfrm>
          <a:prstGeom prst="round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17181576" y="1901860"/>
            <a:ext cx="1909175" cy="1909267"/>
          </a:xfrm>
          <a:prstGeom prst="roundRect">
            <a:avLst/>
          </a:prstGeom>
          <a:solidFill>
            <a:srgbClr val="E5E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7684861" y="3997756"/>
            <a:ext cx="902512" cy="264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40" b="0" i="0">
                <a:solidFill>
                  <a:srgbClr val="212121"/>
                </a:solidFill>
                <a:latin typeface="Rajdhani"/>
              </a:rPr>
              <a:t>CRDBX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66830" y="1143000"/>
            <a:ext cx="5333969" cy="559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 i="0">
                <a:solidFill>
                  <a:srgbClr val="FFFFFF"/>
                </a:solidFill>
                <a:latin typeface="Rajdhani"/>
              </a:rPr>
              <a:t>bull bear strategy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66830" y="3619469"/>
            <a:ext cx="7848569" cy="5054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Quicksand (TT)"/>
              </a:rPr>
              <a:t>The strategy allocates using a suite of affiliated tactical mutual funds. Bull Bear will hold a core position that will focus on providing tactical concentrated exposure to a major market index. The remainder will be allocated among a diverse group of tactical funds. </a:t>
            </a:r>
          </a:p>
          <a:p>
            <a:pPr algn="l"/>
            <a:r>
              <a:rPr sz="2600" b="0" i="0">
                <a:solidFill>
                  <a:srgbClr val="FFFFFF"/>
                </a:solidFill>
                <a:latin typeface="Quicksand (TT)"/>
              </a:rPr>
              <a:t>The underlying funds utilize a combination of dynamic asset allocation and mechanical system trading. Additionally, they employ risk management techniques including the use of hedging, treasuries, and cash positions during adverse market    conditions; cash positions could at times be 100%.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66830" y="2286000"/>
            <a:ext cx="8393369" cy="737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FFFFFF"/>
                </a:solidFill>
                <a:latin typeface="Rajdhani"/>
              </a:rPr>
              <a:t>bull bear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