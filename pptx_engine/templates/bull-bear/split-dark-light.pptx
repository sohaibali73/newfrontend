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78385" y="987552"/>
            <a:ext cx="16157265" cy="11772717"/>
          </a:xfrm>
          <a:prstGeom prst="roundRect">
            <a:avLst/>
          </a:prstGeom>
          <a:solidFill>
            <a:srgbClr val="212121">
              <a:alpha val="5000"/>
            </a:srgbClr>
          </a:solidFill>
          <a:ln w="50800">
            <a:solidFill>
              <a:srgbClr val="D6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66040" y="962131"/>
            <a:ext cx="16157265" cy="117727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699973" y="8228045"/>
            <a:ext cx="4019519" cy="712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20" b="0" i="0">
                <a:solidFill>
                  <a:srgbClr val="000000"/>
                </a:solidFill>
                <a:latin typeface="Lexend Deca"/>
              </a:rPr>
              <a:t>Alternate between </a:t>
            </a:r>
          </a:p>
          <a:p>
            <a:pPr algn="ctr"/>
            <a:r>
              <a:rPr sz="2120" b="0" i="0">
                <a:solidFill>
                  <a:srgbClr val="000000"/>
                </a:solidFill>
                <a:latin typeface="Lexend Deca"/>
              </a:rPr>
              <a:t>Risk-On and Risk-Off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ounded Rectangle 195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ounded Rectangle 210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ounded Rectangle 222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ounded Rectangle 226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ounded Rectangle 227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ounded Rectangle 231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ounded Rectangle 242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ounded Rectangle 243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9610313" y="10770443"/>
            <a:ext cx="1423720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treasuries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9151742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19016868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ounded Rectangle 247"/>
          <p:cNvSpPr/>
          <p:nvPr/>
        </p:nvSpPr>
        <p:spPr>
          <a:xfrm>
            <a:off x="19054632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ounded Rectangle 251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7497592" y="10770443"/>
            <a:ext cx="982797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inverse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7039021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ounded Rectangle 254"/>
          <p:cNvSpPr/>
          <p:nvPr/>
        </p:nvSpPr>
        <p:spPr>
          <a:xfrm>
            <a:off x="16904147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ounded Rectangle 255"/>
          <p:cNvSpPr/>
          <p:nvPr/>
        </p:nvSpPr>
        <p:spPr>
          <a:xfrm>
            <a:off x="16941911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ounded Rectangle 258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ounded Rectangle 259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5726308" y="10770443"/>
            <a:ext cx="627095" cy="242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cash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15267736" y="10703052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ounded Rectangle 262"/>
          <p:cNvSpPr/>
          <p:nvPr/>
        </p:nvSpPr>
        <p:spPr>
          <a:xfrm>
            <a:off x="15132771" y="10563331"/>
            <a:ext cx="755385" cy="64739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ounded Rectangle 263"/>
          <p:cNvSpPr/>
          <p:nvPr/>
        </p:nvSpPr>
        <p:spPr>
          <a:xfrm>
            <a:off x="15170536" y="10671870"/>
            <a:ext cx="528706" cy="56583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ounded Rectangle 266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ounded Rectangle 267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5726308" y="9548622"/>
            <a:ext cx="4423592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10" b="0" i="0">
                <a:solidFill>
                  <a:srgbClr val="000000"/>
                </a:solidFill>
                <a:latin typeface="Quicksand (TT)"/>
              </a:rPr>
              <a:t>leveraged index exposure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15267736" y="9481139"/>
            <a:ext cx="296722" cy="45857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ounded Rectangle 270"/>
          <p:cNvSpPr/>
          <p:nvPr/>
        </p:nvSpPr>
        <p:spPr>
          <a:xfrm>
            <a:off x="15267736" y="9480224"/>
            <a:ext cx="296722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ounded Rectangle 271"/>
          <p:cNvSpPr/>
          <p:nvPr/>
        </p:nvSpPr>
        <p:spPr>
          <a:xfrm>
            <a:off x="15213695" y="9480224"/>
            <a:ext cx="539496" cy="567476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3472678" y="10754807"/>
            <a:ext cx="1185793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risk-oFF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3472678" y="9532985"/>
            <a:ext cx="1080546" cy="301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  <a:latin typeface="Rajdhani SemiBold"/>
              </a:rPr>
              <a:t>risk-on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5699973" y="8228045"/>
            <a:ext cx="4019519" cy="712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20" b="0" i="0">
                <a:solidFill>
                  <a:srgbClr val="000000"/>
                </a:solidFill>
                <a:latin typeface="Lexend Deca"/>
              </a:rPr>
              <a:t>Alternate between </a:t>
            </a:r>
          </a:p>
          <a:p>
            <a:pPr algn="ctr"/>
            <a:r>
              <a:rPr sz="2120" b="0" i="0">
                <a:solidFill>
                  <a:srgbClr val="000000"/>
                </a:solidFill>
                <a:latin typeface="Lexend Deca"/>
              </a:rPr>
              <a:t>Risk-On and Risk-Off</a:t>
            </a:r>
          </a:p>
        </p:txBody>
      </p:sp>
      <p:sp>
        <p:nvSpPr>
          <p:cNvPr id="278" name="Rounded Rectangle 277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ounded Rectangle 278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ounded Rectangle 279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ounded Rectangle 280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ounded Rectangle 284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ounded Rectangle 285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7778222" y="6754215"/>
            <a:ext cx="715975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CRTBX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ounded Rectangle 289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ounded Rectangle 290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ounded Rectangle 291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ounded Rectangle 294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ounded Rectangle 295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ounded Rectangle 296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7778222" y="6754215"/>
            <a:ext cx="715975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CRTBX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0980176" y="3997756"/>
            <a:ext cx="91074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CRMVX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ounded Rectangle 307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ounded Rectangle 309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20980176" y="3997756"/>
            <a:ext cx="91074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CRMVX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313" name="Rounded Rectangle 312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ounded Rectangle 313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ounded Rectangle 315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318" name="Rounded Rectangle 317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ounded Rectangle 318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ounded Rectangle 320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ounded Rectangle 323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ounded Rectangle 324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ounded Rectangle 325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ounded Rectangle 328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ounded Rectangle 329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ounded Rectangle 330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21077011" y="6754215"/>
            <a:ext cx="71707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CRTOX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34" name="Rounded Rectangle 333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ounded Rectangle 334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ounded Rectangle 335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ounded Rectangle 336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39" name="Rounded Rectangle 338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ounded Rectangle 339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ounded Rectangle 340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ounded Rectangle 341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21077011" y="6754215"/>
            <a:ext cx="71707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CRTOX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ounded Rectangle 345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ounded Rectangle 346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ounded Rectangle 347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ounded Rectangle 350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ounded Rectangle 351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ounded Rectangle 352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17684861" y="3997756"/>
            <a:ext cx="90251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CRDBX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356" name="Rounded Rectangle 355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ounded Rectangle 356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ounded Rectangle 357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ounded Rectangle 358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361" name="Rounded Rectangle 360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ounded Rectangle 361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ounded Rectangle 362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ounded Rectangle 363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7684861" y="3997756"/>
            <a:ext cx="90251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CRDBX</a:t>
            </a:r>
          </a:p>
        </p:txBody>
      </p:sp>
      <p:sp>
        <p:nvSpPr>
          <p:cNvPr id="366" name="Rounded Rectangle 365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ounded Rectangle 366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ounded Rectangle 367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ounded Rectangle 368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ounded Rectangle 371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ounded Rectangle 372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ounded Rectangle 373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7778222" y="6754215"/>
            <a:ext cx="715975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CRTBX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ounded Rectangle 377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ounded Rectangle 378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ounded Rectangle 379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82" name="Rounded Rectangle 381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ounded Rectangle 382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ounded Rectangle 383"/>
          <p:cNvSpPr/>
          <p:nvPr/>
        </p:nvSpPr>
        <p:spPr>
          <a:xfrm>
            <a:off x="17181576" y="4655301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ounded Rectangle 384"/>
          <p:cNvSpPr/>
          <p:nvPr/>
        </p:nvSpPr>
        <p:spPr>
          <a:xfrm>
            <a:off x="17181576" y="4655301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7573122" y="5389747"/>
            <a:ext cx="1125992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7778222" y="6754215"/>
            <a:ext cx="715975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CRTBX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20980176" y="3997756"/>
            <a:ext cx="91074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CRMVX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ounded Rectangle 390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ounded Rectangle 391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ounded Rectangle 392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395" name="Rounded Rectangle 394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ounded Rectangle 395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ounded Rectangle 396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ounded Rectangle 397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20980176" y="3997756"/>
            <a:ext cx="91074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CRMVX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401" name="Rounded Rectangle 400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ounded Rectangle 401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ounded Rectangle 402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ounded Rectangle 403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20850240" y="2636306"/>
            <a:ext cx="1170523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6.66%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ounded Rectangle 406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ounded Rectangle 407"/>
          <p:cNvSpPr/>
          <p:nvPr/>
        </p:nvSpPr>
        <p:spPr>
          <a:xfrm>
            <a:off x="20480914" y="1901860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ounded Rectangle 408"/>
          <p:cNvSpPr/>
          <p:nvPr/>
        </p:nvSpPr>
        <p:spPr>
          <a:xfrm>
            <a:off x="20480914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ounded Rectangle 411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ounded Rectangle 412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ounded Rectangle 413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416" name="Rounded Rectangle 415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ounded Rectangle 416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ounded Rectangle 417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ounded Rectangle 418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21077011" y="6754215"/>
            <a:ext cx="71707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CRTOX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ounded Rectangle 422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ounded Rectangle 423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ounded Rectangle 424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20885078" y="5383072"/>
            <a:ext cx="1100937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729" b="0" i="0">
                <a:solidFill>
                  <a:srgbClr val="212121"/>
                </a:solidFill>
                <a:latin typeface="Rajdhani SemiBold"/>
              </a:rPr>
              <a:t>6.67%</a:t>
            </a:r>
          </a:p>
        </p:txBody>
      </p:sp>
      <p:sp>
        <p:nvSpPr>
          <p:cNvPr id="427" name="Rounded Rectangle 426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ounded Rectangle 427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ounded Rectangle 428"/>
          <p:cNvSpPr/>
          <p:nvPr/>
        </p:nvSpPr>
        <p:spPr>
          <a:xfrm>
            <a:off x="20480914" y="4648626"/>
            <a:ext cx="1909267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ounded Rectangle 429"/>
          <p:cNvSpPr/>
          <p:nvPr/>
        </p:nvSpPr>
        <p:spPr>
          <a:xfrm>
            <a:off x="20480914" y="4648626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21077011" y="6754215"/>
            <a:ext cx="71707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CRTOX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433" name="Rounded Rectangle 432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ounded Rectangle 433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ounded Rectangle 434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ounded Rectangle 435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438" name="Rounded Rectangle 437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ounded Rectangle 438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ounded Rectangle 439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ounded Rectangle 440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7684861" y="3997756"/>
            <a:ext cx="90251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CRDBX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444" name="Rounded Rectangle 443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ounded Rectangle 444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ounded Rectangle 445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ounded Rectangle 446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17711196" y="2636306"/>
            <a:ext cx="849934" cy="44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29" b="0" i="0">
                <a:solidFill>
                  <a:srgbClr val="212121"/>
                </a:solidFill>
                <a:latin typeface="Rajdhani SemiBold"/>
              </a:rPr>
              <a:t>80%</a:t>
            </a:r>
          </a:p>
        </p:txBody>
      </p:sp>
      <p:sp>
        <p:nvSpPr>
          <p:cNvPr id="449" name="Rounded Rectangle 448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ounded Rectangle 449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ounded Rectangle 450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ounded Rectangle 451"/>
          <p:cNvSpPr/>
          <p:nvPr/>
        </p:nvSpPr>
        <p:spPr>
          <a:xfrm>
            <a:off x="17181576" y="1901860"/>
            <a:ext cx="1909175" cy="1909267"/>
          </a:xfrm>
          <a:prstGeom prst="roundRect">
            <a:avLst/>
          </a:prstGeom>
          <a:solidFill>
            <a:srgbClr val="E5E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17684861" y="3997756"/>
            <a:ext cx="902512" cy="26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40" b="0" i="0">
                <a:solidFill>
                  <a:srgbClr val="212121"/>
                </a:solidFill>
                <a:latin typeface="Rajdhani"/>
              </a:rPr>
              <a:t>CRDBX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Rajdhani"/>
              </a:rPr>
              <a:t>bull bear strategy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066830" y="3619469"/>
            <a:ext cx="7848569" cy="505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Quicksand (TT)"/>
              </a:rPr>
              <a:t>The strategy allocates using a suite of affiliated tactical mutual funds. Bull Bear will hold a core position that will focus on providing tactical concentrated exposure to a major market index. The remainder will be allocated among a diverse group of tactical funds. </a:t>
            </a:r>
          </a:p>
          <a:p>
            <a:pPr algn="l"/>
            <a:r>
              <a:rPr sz="2600" b="0" i="0">
                <a:solidFill>
                  <a:srgbClr val="FFFFFF"/>
                </a:solidFill>
                <a:latin typeface="Quicksand (TT)"/>
              </a:rPr>
              <a:t>The underlying funds utilize a combination of dynamic asset allocation and mechanical system trading. Additionally, they employ risk management techniques including the use of hedging, treasuries, and cash positions during adverse market    conditions; cash positions could at times be 100%.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066830" y="2286000"/>
            <a:ext cx="8393369" cy="73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Rajdhani"/>
              </a:rPr>
              <a:t>bull bear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