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24384030" cy="13716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11891" y="4173138"/>
            <a:ext cx="12960248" cy="3810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0" i="0">
                <a:solidFill>
                  <a:srgbClr val="FEC00F"/>
                </a:solidFill>
                <a:latin typeface="Quicksand (TT)"/>
              </a:rPr>
              <a:t>Indicators that use market data to assess the odds of a +/- price trend.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7773650" y="9809134"/>
            <a:ext cx="3405499" cy="7239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FFFFFF"/>
                </a:solidFill>
                <a:latin typeface="Quicksand (TT)"/>
              </a:rPr>
              <a:t>(Intermarket Relationships)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44241" y="9511040"/>
            <a:ext cx="3695547" cy="3301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FFFFFF"/>
                </a:solidFill>
                <a:latin typeface="Quicksand (TT)"/>
              </a:rPr>
              <a:t>(Breadth and Volume)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59765" y="9432036"/>
            <a:ext cx="3695547" cy="3301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FFFFFF"/>
                </a:solidFill>
                <a:latin typeface="Quicksand (TT)"/>
              </a:rPr>
              <a:t>(Up, Down or Sideways)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212001" y="7025060"/>
            <a:ext cx="528797" cy="708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0" b="0" i="0">
                <a:solidFill>
                  <a:srgbClr val="212121"/>
                </a:solidFill>
                <a:latin typeface="Rajdhani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918673" y="8755837"/>
            <a:ext cx="3115360" cy="8382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0" i="0">
                <a:solidFill>
                  <a:srgbClr val="FFFFFF"/>
                </a:solidFill>
                <a:latin typeface="Quicksand (TT)"/>
              </a:rPr>
              <a:t>Intermarket Confirmation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8504164" y="6497086"/>
            <a:ext cx="1944563" cy="1944563"/>
          </a:xfrm>
          <a:prstGeom prst="roundRect">
            <a:avLst/>
          </a:prstGeom>
          <a:solidFill>
            <a:srgbClr val="FEC0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6728673" y="5739597"/>
            <a:ext cx="5495452" cy="5495452"/>
          </a:xfrm>
          <a:prstGeom prst="roundRect">
            <a:avLst/>
          </a:prstGeom>
          <a:solidFill>
            <a:srgbClr val="FEC0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934474" y="7025060"/>
            <a:ext cx="515081" cy="708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0" b="0" i="0">
                <a:solidFill>
                  <a:srgbClr val="212121"/>
                </a:solidFill>
                <a:latin typeface="Rajdhan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16234" y="8755837"/>
            <a:ext cx="2351471" cy="3810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0" i="0">
                <a:solidFill>
                  <a:srgbClr val="FFFFFF"/>
                </a:solidFill>
                <a:latin typeface="Quicksand (TT)"/>
              </a:rPr>
              <a:t>Trend Health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219688" y="6497086"/>
            <a:ext cx="1944563" cy="1944563"/>
          </a:xfrm>
          <a:prstGeom prst="roundRect">
            <a:avLst/>
          </a:prstGeom>
          <a:solidFill>
            <a:srgbClr val="FEC0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444288" y="5739597"/>
            <a:ext cx="5495452" cy="5495452"/>
          </a:xfrm>
          <a:prstGeom prst="roundRect">
            <a:avLst/>
          </a:prstGeom>
          <a:solidFill>
            <a:srgbClr val="FEC0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10988" y="7025060"/>
            <a:ext cx="393192" cy="708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0" b="0" i="0">
                <a:solidFill>
                  <a:srgbClr val="212121"/>
                </a:solidFill>
                <a:latin typeface="Rajdhani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49904" y="8755837"/>
            <a:ext cx="3115360" cy="3810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0" i="0">
                <a:solidFill>
                  <a:srgbClr val="FFFFFF"/>
                </a:solidFill>
                <a:latin typeface="Quicksand (TT)"/>
              </a:rPr>
              <a:t>Trend Direction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935303" y="6497086"/>
            <a:ext cx="1944563" cy="1944563"/>
          </a:xfrm>
          <a:prstGeom prst="roundRect">
            <a:avLst/>
          </a:prstGeom>
          <a:solidFill>
            <a:srgbClr val="FEC0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159904" y="5739597"/>
            <a:ext cx="5495452" cy="5495452"/>
          </a:xfrm>
          <a:prstGeom prst="roundRect">
            <a:avLst/>
          </a:prstGeom>
          <a:solidFill>
            <a:srgbClr val="FEC0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5617403" y="8236732"/>
            <a:ext cx="433517" cy="501182"/>
          </a:xfrm>
          <a:prstGeom prst="roundRect">
            <a:avLst/>
          </a:prstGeom>
          <a:solidFill>
            <a:srgbClr val="FEC0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333018" y="8236732"/>
            <a:ext cx="433517" cy="501182"/>
          </a:xfrm>
          <a:prstGeom prst="roundRect">
            <a:avLst/>
          </a:prstGeom>
          <a:solidFill>
            <a:srgbClr val="FEC0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53921" y="2475463"/>
            <a:ext cx="16676187" cy="1623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0" b="0" i="0">
                <a:solidFill>
                  <a:srgbClr val="FFFFFF"/>
                </a:solidFill>
                <a:latin typeface="Rajdhani"/>
              </a:rPr>
              <a:t>Market Analysis: Three Legs to the Stool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6830" y="1143000"/>
            <a:ext cx="5333969" cy="5591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0" i="0">
                <a:solidFill>
                  <a:srgbClr val="FFFFFF"/>
                </a:solidFill>
                <a:latin typeface="Rajdhani"/>
              </a:rPr>
              <a:t>Process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