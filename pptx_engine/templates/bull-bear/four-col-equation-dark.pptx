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17742" y="12544836"/>
            <a:ext cx="6748454" cy="25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Quicksand (TT)"/>
              </a:rPr>
              <a:t>Percent invested numbers are for illustrative purposes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1891" y="4173138"/>
            <a:ext cx="12960248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00F"/>
                </a:solidFill>
                <a:latin typeface="Quicksand (TT)"/>
              </a:rPr>
              <a:t>Long-Term Positioning with Short-Term Opportunity Capture</a:t>
            </a:r>
          </a:p>
        </p:txBody>
      </p:sp>
      <p:pic>
        <p:nvPicPr>
          <p:cNvPr id="4" name="Picture 3" descr="s09_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639" y="6120170"/>
            <a:ext cx="3882725" cy="50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192067" y="8606972"/>
            <a:ext cx="3078053" cy="151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Keeping combined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system exposure to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Quicksand (TT)"/>
              </a:rPr>
              <a:t>62% can help reduce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95795" y="6345936"/>
            <a:ext cx="26704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Composite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15334" y="6120170"/>
            <a:ext cx="3831427" cy="922538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789639" y="7590342"/>
            <a:ext cx="3882725" cy="3544397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9_e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2836" y="6120170"/>
            <a:ext cx="3882725" cy="50145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370539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VIX oversold exposure: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Quicksand (TT)"/>
              </a:rPr>
              <a:t>Invested 4%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of the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62746" y="6345936"/>
            <a:ext cx="29428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118439" y="6120170"/>
            <a:ext cx="3831427" cy="922538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092836" y="7590342"/>
            <a:ext cx="3882725" cy="3544397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e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250" y="6120170"/>
            <a:ext cx="3882725" cy="501456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79862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Volume thrust exposure: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Quicksand (TT)"/>
              </a:rPr>
              <a:t>Invested 43%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of the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161" y="6345936"/>
            <a:ext cx="29428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Trigger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27854" y="6120170"/>
            <a:ext cx="3831427" cy="922538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02250" y="7590342"/>
            <a:ext cx="3882725" cy="3544397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9_e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1573" y="6120170"/>
            <a:ext cx="3882725" cy="50145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989277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Long-term trend exposure:</a:t>
            </a:r>
          </a:p>
          <a:p>
            <a:pPr algn="ctr"/>
            <a:r>
              <a:rPr sz="2600" b="1" i="0">
                <a:solidFill>
                  <a:srgbClr val="FFFFFF"/>
                </a:solidFill>
                <a:latin typeface="Quicksand (TT)"/>
              </a:rPr>
              <a:t>Invested 71%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of the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7729" y="6345936"/>
            <a:ext cx="26704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268" y="6120170"/>
            <a:ext cx="3831427" cy="922538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11573" y="7590342"/>
            <a:ext cx="3882725" cy="3544397"/>
          </a:xfrm>
          <a:prstGeom prst="roundRect">
            <a:avLst/>
          </a:prstGeom>
          <a:solidFill>
            <a:srgbClr val="D6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1702" y="8949232"/>
            <a:ext cx="481797" cy="8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CB0A"/>
                </a:solidFill>
                <a:latin typeface="Rajdhani"/>
              </a:rPr>
              <a:t>=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51116" y="8949232"/>
            <a:ext cx="475579" cy="8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CB0A"/>
                </a:solidFill>
                <a:latin typeface="Rajdhani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0439" y="8949232"/>
            <a:ext cx="475579" cy="8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CB0A"/>
                </a:solidFill>
                <a:latin typeface="Rajdhani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Rajdhani"/>
              </a:rPr>
              <a:t>reducing risk by reducing exposure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