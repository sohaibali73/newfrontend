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438403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17742" y="12544836"/>
            <a:ext cx="6748454" cy="254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Quicksand (TT)"/>
              </a:rPr>
              <a:t>Percent invested numbers are for illustrative purposes only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1891" y="4173138"/>
            <a:ext cx="12960248" cy="38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EC00F"/>
                </a:solidFill>
                <a:latin typeface="Quicksand (TT)"/>
              </a:rPr>
              <a:t>Long-Term Positioning with Short-Term Opportunity Capture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192067" y="8606972"/>
            <a:ext cx="3078053" cy="1511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Quicksand (TT)"/>
              </a:rPr>
              <a:t>Keeping combined</a:t>
            </a:r>
          </a:p>
          <a:p>
            <a:pPr algn="ctr"/>
            <a:r>
              <a:rPr sz="2600" b="0" i="0">
                <a:solidFill>
                  <a:srgbClr val="FFFFFF"/>
                </a:solidFill>
                <a:latin typeface="Quicksand (TT)"/>
              </a:rPr>
              <a:t>system exposure to</a:t>
            </a:r>
          </a:p>
          <a:p>
            <a:pPr algn="ctr"/>
            <a:r>
              <a:rPr sz="2600" b="1" i="0">
                <a:solidFill>
                  <a:srgbClr val="FFFFFF"/>
                </a:solidFill>
                <a:latin typeface="Quicksand (TT)"/>
              </a:rPr>
              <a:t>62% can help reduce risk.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395795" y="6345936"/>
            <a:ext cx="2670413" cy="38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12121"/>
                </a:solidFill>
                <a:latin typeface="Quicksand (TT)"/>
              </a:rPr>
              <a:t>Composite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815334" y="6120170"/>
            <a:ext cx="3831427" cy="922538"/>
          </a:xfrm>
          <a:prstGeom prst="roundRect">
            <a:avLst/>
          </a:prstGeom>
          <a:solidFill>
            <a:srgbClr val="FEC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789639" y="7590342"/>
            <a:ext cx="3882725" cy="3544397"/>
          </a:xfrm>
          <a:prstGeom prst="roundRect">
            <a:avLst/>
          </a:prstGeom>
          <a:solidFill>
            <a:srgbClr val="FEC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192067" y="8606972"/>
            <a:ext cx="3078053" cy="1511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Quicksand (TT)"/>
              </a:rPr>
              <a:t>Keeping combined</a:t>
            </a:r>
          </a:p>
          <a:p>
            <a:pPr algn="ctr"/>
            <a:r>
              <a:rPr sz="2600" b="0" i="0">
                <a:solidFill>
                  <a:srgbClr val="FFFFFF"/>
                </a:solidFill>
                <a:latin typeface="Quicksand (TT)"/>
              </a:rPr>
              <a:t>system exposure to</a:t>
            </a:r>
          </a:p>
          <a:p>
            <a:pPr algn="ctr"/>
            <a:r>
              <a:rPr sz="2600" b="1" i="0">
                <a:solidFill>
                  <a:srgbClr val="FFFFFF"/>
                </a:solidFill>
                <a:latin typeface="Quicksand (TT)"/>
              </a:rPr>
              <a:t>62% can help reduce risk.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95795" y="6345936"/>
            <a:ext cx="2670413" cy="38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12121"/>
                </a:solidFill>
                <a:latin typeface="Quicksand (TT)"/>
              </a:rPr>
              <a:t>Composite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815334" y="6120170"/>
            <a:ext cx="3831427" cy="922538"/>
          </a:xfrm>
          <a:prstGeom prst="roundRect">
            <a:avLst/>
          </a:prstGeom>
          <a:solidFill>
            <a:srgbClr val="FEC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8789639" y="7590342"/>
            <a:ext cx="3882725" cy="3544397"/>
          </a:xfrm>
          <a:prstGeom prst="roundRect">
            <a:avLst/>
          </a:prstGeom>
          <a:solidFill>
            <a:srgbClr val="FEC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370539" y="8410102"/>
            <a:ext cx="3327410" cy="19049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Quicksand (TT)"/>
              </a:rPr>
              <a:t>VIX oversold exposure:</a:t>
            </a:r>
          </a:p>
          <a:p>
            <a:pPr algn="ctr"/>
            <a:r>
              <a:rPr sz="2600" b="1" i="0">
                <a:solidFill>
                  <a:srgbClr val="FFFFFF"/>
                </a:solidFill>
                <a:latin typeface="Quicksand (TT)"/>
              </a:rPr>
              <a:t>Invested 4% </a:t>
            </a:r>
          </a:p>
          <a:p>
            <a:pPr algn="ctr"/>
            <a:r>
              <a:rPr sz="2600" b="0" i="0">
                <a:solidFill>
                  <a:srgbClr val="FFFFFF"/>
                </a:solidFill>
                <a:latin typeface="Quicksand (TT)"/>
              </a:rPr>
              <a:t>of the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62746" y="6345936"/>
            <a:ext cx="2942813" cy="38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12121"/>
                </a:solidFill>
                <a:latin typeface="Quicksand (TT)"/>
              </a:rPr>
              <a:t>Trigger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118439" y="6120170"/>
            <a:ext cx="3831427" cy="922538"/>
          </a:xfrm>
          <a:prstGeom prst="roundRect">
            <a:avLst/>
          </a:prstGeom>
          <a:solidFill>
            <a:srgbClr val="D6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3092836" y="7590342"/>
            <a:ext cx="3882725" cy="3544397"/>
          </a:xfrm>
          <a:prstGeom prst="roundRect">
            <a:avLst/>
          </a:prstGeom>
          <a:solidFill>
            <a:srgbClr val="D6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370539" y="8410102"/>
            <a:ext cx="3327410" cy="19049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Quicksand (TT)"/>
              </a:rPr>
              <a:t>VIX oversold exposure:</a:t>
            </a:r>
          </a:p>
          <a:p>
            <a:pPr algn="ctr"/>
            <a:r>
              <a:rPr sz="2600" b="1" i="0">
                <a:solidFill>
                  <a:srgbClr val="FFFFFF"/>
                </a:solidFill>
                <a:latin typeface="Quicksand (TT)"/>
              </a:rPr>
              <a:t>Invested 4% </a:t>
            </a:r>
          </a:p>
          <a:p>
            <a:pPr algn="ctr"/>
            <a:r>
              <a:rPr sz="2600" b="0" i="0">
                <a:solidFill>
                  <a:srgbClr val="FFFFFF"/>
                </a:solidFill>
                <a:latin typeface="Quicksand (TT)"/>
              </a:rPr>
              <a:t>of the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62746" y="6345936"/>
            <a:ext cx="2942813" cy="38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12121"/>
                </a:solidFill>
                <a:latin typeface="Quicksand (TT)"/>
              </a:rPr>
              <a:t>Trigger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118439" y="6120170"/>
            <a:ext cx="3831427" cy="922538"/>
          </a:xfrm>
          <a:prstGeom prst="roundRect">
            <a:avLst/>
          </a:prstGeom>
          <a:solidFill>
            <a:srgbClr val="D6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3092836" y="7590342"/>
            <a:ext cx="3882725" cy="3544397"/>
          </a:xfrm>
          <a:prstGeom prst="roundRect">
            <a:avLst/>
          </a:prstGeom>
          <a:solidFill>
            <a:srgbClr val="D6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79862" y="8410102"/>
            <a:ext cx="3327410" cy="19049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Quicksand (TT)"/>
              </a:rPr>
              <a:t>Volume thrust exposure:</a:t>
            </a:r>
          </a:p>
          <a:p>
            <a:pPr algn="ctr"/>
            <a:r>
              <a:rPr sz="2600" b="1" i="0">
                <a:solidFill>
                  <a:srgbClr val="FFFFFF"/>
                </a:solidFill>
                <a:latin typeface="Quicksand (TT)"/>
              </a:rPr>
              <a:t>Invested 43% </a:t>
            </a:r>
          </a:p>
          <a:p>
            <a:pPr algn="ctr"/>
            <a:r>
              <a:rPr sz="2600" b="0" i="0">
                <a:solidFill>
                  <a:srgbClr val="FFFFFF"/>
                </a:solidFill>
                <a:latin typeface="Quicksand (TT)"/>
              </a:rPr>
              <a:t>of the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72161" y="6345936"/>
            <a:ext cx="2942813" cy="38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12121"/>
                </a:solidFill>
                <a:latin typeface="Quicksand (TT)"/>
              </a:rPr>
              <a:t>Trigger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27854" y="6120170"/>
            <a:ext cx="3831427" cy="922538"/>
          </a:xfrm>
          <a:prstGeom prst="roundRect">
            <a:avLst/>
          </a:prstGeom>
          <a:solidFill>
            <a:srgbClr val="D6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402250" y="7590342"/>
            <a:ext cx="3882725" cy="3544397"/>
          </a:xfrm>
          <a:prstGeom prst="roundRect">
            <a:avLst/>
          </a:prstGeom>
          <a:solidFill>
            <a:srgbClr val="D6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79862" y="8410102"/>
            <a:ext cx="3327410" cy="19049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Quicksand (TT)"/>
              </a:rPr>
              <a:t>Volume thrust exposure:</a:t>
            </a:r>
          </a:p>
          <a:p>
            <a:pPr algn="ctr"/>
            <a:r>
              <a:rPr sz="2600" b="1" i="0">
                <a:solidFill>
                  <a:srgbClr val="FFFFFF"/>
                </a:solidFill>
                <a:latin typeface="Quicksand (TT)"/>
              </a:rPr>
              <a:t>Invested 43% </a:t>
            </a:r>
          </a:p>
          <a:p>
            <a:pPr algn="ctr"/>
            <a:r>
              <a:rPr sz="2600" b="0" i="0">
                <a:solidFill>
                  <a:srgbClr val="FFFFFF"/>
                </a:solidFill>
                <a:latin typeface="Quicksand (TT)"/>
              </a:rPr>
              <a:t>of the 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72161" y="6345936"/>
            <a:ext cx="2942813" cy="38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12121"/>
                </a:solidFill>
                <a:latin typeface="Quicksand (TT)"/>
              </a:rPr>
              <a:t>Trigger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27854" y="6120170"/>
            <a:ext cx="3831427" cy="922538"/>
          </a:xfrm>
          <a:prstGeom prst="roundRect">
            <a:avLst/>
          </a:prstGeom>
          <a:solidFill>
            <a:srgbClr val="D6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402250" y="7590342"/>
            <a:ext cx="3882725" cy="3544397"/>
          </a:xfrm>
          <a:prstGeom prst="roundRect">
            <a:avLst/>
          </a:prstGeom>
          <a:solidFill>
            <a:srgbClr val="D6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89277" y="8410102"/>
            <a:ext cx="3327410" cy="19049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Quicksand (TT)"/>
              </a:rPr>
              <a:t>Long-term trend exposure:</a:t>
            </a:r>
          </a:p>
          <a:p>
            <a:pPr algn="ctr"/>
            <a:r>
              <a:rPr sz="2600" b="1" i="0">
                <a:solidFill>
                  <a:srgbClr val="FFFFFF"/>
                </a:solidFill>
                <a:latin typeface="Quicksand (TT)"/>
              </a:rPr>
              <a:t>Invested 71% </a:t>
            </a:r>
          </a:p>
          <a:p>
            <a:pPr algn="ctr"/>
            <a:r>
              <a:rPr sz="2600" b="0" i="0">
                <a:solidFill>
                  <a:srgbClr val="FFFFFF"/>
                </a:solidFill>
                <a:latin typeface="Quicksand (TT)"/>
              </a:rPr>
              <a:t>of the 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17729" y="6345936"/>
            <a:ext cx="2670413" cy="38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12121"/>
                </a:solidFill>
                <a:latin typeface="Quicksand (TT)"/>
              </a:rPr>
              <a:t>Base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737268" y="6120170"/>
            <a:ext cx="3831427" cy="922538"/>
          </a:xfrm>
          <a:prstGeom prst="roundRect">
            <a:avLst/>
          </a:prstGeom>
          <a:solidFill>
            <a:srgbClr val="D6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711573" y="7590342"/>
            <a:ext cx="3882725" cy="3544397"/>
          </a:xfrm>
          <a:prstGeom prst="roundRect">
            <a:avLst/>
          </a:prstGeom>
          <a:solidFill>
            <a:srgbClr val="D6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989277" y="8410102"/>
            <a:ext cx="3327410" cy="19049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Quicksand (TT)"/>
              </a:rPr>
              <a:t>Long-term trend exposure:</a:t>
            </a:r>
          </a:p>
          <a:p>
            <a:pPr algn="ctr"/>
            <a:r>
              <a:rPr sz="2600" b="1" i="0">
                <a:solidFill>
                  <a:srgbClr val="FFFFFF"/>
                </a:solidFill>
                <a:latin typeface="Quicksand (TT)"/>
              </a:rPr>
              <a:t>Invested 71% </a:t>
            </a:r>
          </a:p>
          <a:p>
            <a:pPr algn="ctr"/>
            <a:r>
              <a:rPr sz="2600" b="0" i="0">
                <a:solidFill>
                  <a:srgbClr val="FFFFFF"/>
                </a:solidFill>
                <a:latin typeface="Quicksand (TT)"/>
              </a:rPr>
              <a:t>of the 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17729" y="6345936"/>
            <a:ext cx="2670413" cy="38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12121"/>
                </a:solidFill>
                <a:latin typeface="Quicksand (TT)"/>
              </a:rPr>
              <a:t>Base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737268" y="6120170"/>
            <a:ext cx="3831427" cy="922538"/>
          </a:xfrm>
          <a:prstGeom prst="roundRect">
            <a:avLst/>
          </a:prstGeom>
          <a:solidFill>
            <a:srgbClr val="D6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711573" y="7590342"/>
            <a:ext cx="3882725" cy="3544397"/>
          </a:xfrm>
          <a:prstGeom prst="roundRect">
            <a:avLst/>
          </a:prstGeom>
          <a:solidFill>
            <a:srgbClr val="D6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7641702" y="8949232"/>
            <a:ext cx="481797" cy="82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0" b="0" i="0">
                <a:solidFill>
                  <a:srgbClr val="FFCB0A"/>
                </a:solidFill>
                <a:latin typeface="Rajdhani"/>
              </a:rPr>
              <a:t>=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951116" y="8949232"/>
            <a:ext cx="475579" cy="82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0" b="0" i="0">
                <a:solidFill>
                  <a:srgbClr val="FFCB0A"/>
                </a:solidFill>
                <a:latin typeface="Rajdhani"/>
              </a:rPr>
              <a:t>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0439" y="8949232"/>
            <a:ext cx="475579" cy="82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0" b="0" i="0">
                <a:solidFill>
                  <a:srgbClr val="FFCB0A"/>
                </a:solidFill>
                <a:latin typeface="Rajdhani"/>
              </a:rPr>
              <a:t>+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6830" y="1143000"/>
            <a:ext cx="5333969" cy="559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Rajdhani"/>
              </a:rPr>
              <a:t>process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53921" y="2475463"/>
            <a:ext cx="16676187" cy="1623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FFFFFF"/>
                </a:solidFill>
                <a:latin typeface="Rajdhani"/>
              </a:rPr>
              <a:t>reducing risk by reducing exposure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